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aleway"/>
      <p:regular r:id="rId23"/>
      <p:bold r:id="rId24"/>
      <p:italic r:id="rId25"/>
      <p:boldItalic r:id="rId26"/>
    </p:embeddedFont>
    <p:embeddedFont>
      <p:font typeface="Lato"/>
      <p:regular r:id="rId27"/>
      <p:bold r:id="rId28"/>
      <p:italic r:id="rId29"/>
      <p:boldItalic r:id="rId30"/>
    </p:embeddedFont>
    <p:embeddedFont>
      <p:font typeface="Raleway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9A5D61-5867-491C-9C38-8277495F897F}">
  <a:tblStyle styleId="{419A5D61-5867-491C-9C38-8277495F897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Medium-regular.fntdata"/><Relationship Id="rId30" Type="http://schemas.openxmlformats.org/officeDocument/2006/relationships/font" Target="fonts/Lato-boldItalic.fntdata"/><Relationship Id="rId11" Type="http://schemas.openxmlformats.org/officeDocument/2006/relationships/slide" Target="slides/slide5.xml"/><Relationship Id="rId33" Type="http://schemas.openxmlformats.org/officeDocument/2006/relationships/font" Target="fonts/RalewayMedium-italic.fntdata"/><Relationship Id="rId10" Type="http://schemas.openxmlformats.org/officeDocument/2006/relationships/slide" Target="slides/slide4.xml"/><Relationship Id="rId32" Type="http://schemas.openxmlformats.org/officeDocument/2006/relationships/font" Target="fonts/RalewayMedium-bold.fntdata"/><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font" Target="fonts/RalewayMedium-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e5ce71bb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e5ce71bb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e5ce71bb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e5ce71bb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9e36250e8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9e36250e8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e36250e8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e36250e8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e5f82d6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e5f82d6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e36250e8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e36250e8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eb0ea8922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eb0ea892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eb0ea892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eb0ea892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9eb0ea8922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9eb0ea8922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eb0ea8922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eb0ea8922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eb8b6068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eb8b6068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eb8b6068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eb8b6068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e5f82d62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e5f82d62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hyperlink" Target="https://drive.google.com/drive/folders/1B3RwUN-Opcy5BjdmwY3vucMmJhiy3Alf?usp=drive_link" TargetMode="External"/><Relationship Id="rId4" Type="http://schemas.openxmlformats.org/officeDocument/2006/relationships/hyperlink" Target="https://drive.google.com/drive/folders/1PpE5Mg9c--0aUwKCwSY45IKcaKpkc0vV?usp=share_link" TargetMode="External"/><Relationship Id="rId5"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LOT ESTIMATION TOOL</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br>
              <a:rPr lang="en" sz="2400"/>
            </a:br>
            <a:r>
              <a:rPr lang="en" sz="2400"/>
              <a:t>Omar Alhakeem &amp; Trevon Woods</a:t>
            </a:r>
            <a:endParaRPr sz="2400"/>
          </a:p>
          <a:p>
            <a:pPr indent="0" lvl="0" marL="0" rtl="0" algn="l">
              <a:spcBef>
                <a:spcPts val="0"/>
              </a:spcBef>
              <a:spcAft>
                <a:spcPts val="0"/>
              </a:spcAft>
              <a:buNone/>
            </a:pPr>
            <a:r>
              <a:rPr lang="en" sz="1700"/>
              <a:t>ITAI 1378</a:t>
            </a:r>
            <a:endParaRPr sz="1700"/>
          </a:p>
          <a:p>
            <a:pPr indent="0" lvl="0" marL="0" rtl="0" algn="l">
              <a:spcBef>
                <a:spcPts val="0"/>
              </a:spcBef>
              <a:spcAft>
                <a:spcPts val="0"/>
              </a:spcAft>
              <a:buNone/>
            </a:pPr>
            <a:r>
              <a:rPr lang="en" sz="1700"/>
              <a:t>Project Tier 3</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The Problem</a:t>
            </a:r>
            <a:endParaRPr sz="2400"/>
          </a:p>
        </p:txBody>
      </p:sp>
      <p:sp>
        <p:nvSpPr>
          <p:cNvPr id="79" name="Google Shape;79;p14"/>
          <p:cNvSpPr txBox="1"/>
          <p:nvPr>
            <p:ph idx="4294967295" type="title"/>
          </p:nvPr>
        </p:nvSpPr>
        <p:spPr>
          <a:xfrm>
            <a:off x="535775" y="1480150"/>
            <a:ext cx="5197200" cy="30675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b="0" lang="en" sz="2100"/>
              <a:t>Land is common, but it comes in many different shapes and sizes</a:t>
            </a:r>
            <a:endParaRPr b="0" sz="2100"/>
          </a:p>
          <a:p>
            <a:pPr indent="-361950" lvl="0" marL="457200" rtl="0" algn="l">
              <a:spcBef>
                <a:spcPts val="0"/>
              </a:spcBef>
              <a:spcAft>
                <a:spcPts val="0"/>
              </a:spcAft>
              <a:buSzPts val="2100"/>
              <a:buChar char="●"/>
            </a:pPr>
            <a:r>
              <a:rPr b="0" lang="en" sz="2100"/>
              <a:t>We are trying to </a:t>
            </a:r>
            <a:r>
              <a:rPr b="0" lang="en" sz="2100"/>
              <a:t>answer</a:t>
            </a:r>
            <a:r>
              <a:rPr b="0" lang="en" sz="2100"/>
              <a:t> a relatively simple question: how many lots can a land developer yield from a plot of land?</a:t>
            </a:r>
            <a:endParaRPr b="0" sz="2100"/>
          </a:p>
          <a:p>
            <a:pPr indent="-361950" lvl="0" marL="457200" rtl="0" algn="l">
              <a:spcBef>
                <a:spcPts val="0"/>
              </a:spcBef>
              <a:spcAft>
                <a:spcPts val="0"/>
              </a:spcAft>
              <a:buSzPts val="2100"/>
              <a:buChar char="●"/>
            </a:pPr>
            <a:r>
              <a:rPr b="0" lang="en" sz="2100"/>
              <a:t>It takes many man hours to get an answer </a:t>
            </a:r>
            <a:r>
              <a:rPr b="0" lang="en" sz="2100"/>
              <a:t>which</a:t>
            </a:r>
            <a:r>
              <a:rPr b="0" lang="en" sz="2100"/>
              <a:t> leads to lost opportunities</a:t>
            </a:r>
            <a:endParaRPr b="0" sz="2100"/>
          </a:p>
        </p:txBody>
      </p:sp>
      <p:pic>
        <p:nvPicPr>
          <p:cNvPr id="80" name="Google Shape;80;p14"/>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The Solution (?)</a:t>
            </a:r>
            <a:endParaRPr sz="2400"/>
          </a:p>
        </p:txBody>
      </p:sp>
      <p:sp>
        <p:nvSpPr>
          <p:cNvPr id="86" name="Google Shape;86;p15"/>
          <p:cNvSpPr txBox="1"/>
          <p:nvPr>
            <p:ph idx="4294967295" type="title"/>
          </p:nvPr>
        </p:nvSpPr>
        <p:spPr>
          <a:xfrm>
            <a:off x="535775" y="1480150"/>
            <a:ext cx="7170600" cy="35382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b="0" lang="en" sz="2100"/>
              <a:t>What if we develop a model that understands our requirements and input to give us an answer in a fraction of the time? </a:t>
            </a:r>
            <a:endParaRPr b="0" sz="2100"/>
          </a:p>
          <a:p>
            <a:pPr indent="-361950" lvl="1" marL="914400" rtl="0" algn="l">
              <a:spcBef>
                <a:spcPts val="0"/>
              </a:spcBef>
              <a:spcAft>
                <a:spcPts val="0"/>
              </a:spcAft>
              <a:buSzPts val="2100"/>
              <a:buChar char="○"/>
            </a:pPr>
            <a:r>
              <a:rPr b="0" lang="en" sz="2100"/>
              <a:t>Step 1: Dissect a plat</a:t>
            </a:r>
            <a:endParaRPr b="0" sz="2100"/>
          </a:p>
          <a:p>
            <a:pPr indent="-361950" lvl="1" marL="914400" rtl="0" algn="l">
              <a:spcBef>
                <a:spcPts val="0"/>
              </a:spcBef>
              <a:spcAft>
                <a:spcPts val="0"/>
              </a:spcAft>
              <a:buSzPts val="2100"/>
              <a:buChar char="○"/>
            </a:pPr>
            <a:r>
              <a:rPr b="0" lang="en" sz="2100"/>
              <a:t>Step 2: Dissect a survey &amp; prompt </a:t>
            </a:r>
            <a:r>
              <a:rPr b="0" lang="en" sz="2100"/>
              <a:t>requirements</a:t>
            </a:r>
            <a:endParaRPr b="0" sz="2100"/>
          </a:p>
          <a:p>
            <a:pPr indent="-361950" lvl="1" marL="914400" rtl="0" algn="l">
              <a:spcBef>
                <a:spcPts val="0"/>
              </a:spcBef>
              <a:spcAft>
                <a:spcPts val="0"/>
              </a:spcAft>
              <a:buSzPts val="2100"/>
              <a:buChar char="○"/>
            </a:pPr>
            <a:r>
              <a:rPr b="0" lang="en" sz="2100"/>
              <a:t>Step 3: Run data through models</a:t>
            </a:r>
            <a:endParaRPr b="0" sz="2100"/>
          </a:p>
          <a:p>
            <a:pPr indent="-361950" lvl="1" marL="914400" rtl="0" algn="l">
              <a:spcBef>
                <a:spcPts val="0"/>
              </a:spcBef>
              <a:spcAft>
                <a:spcPts val="0"/>
              </a:spcAft>
              <a:buSzPts val="2100"/>
              <a:buChar char="○"/>
            </a:pPr>
            <a:r>
              <a:rPr b="0" lang="en" sz="2100"/>
              <a:t>Step 4: Result (hopefully a </a:t>
            </a:r>
            <a:r>
              <a:rPr b="0" i="1" lang="en" sz="2100"/>
              <a:t>lot</a:t>
            </a:r>
            <a:r>
              <a:rPr b="0" lang="en" sz="2100"/>
              <a:t> count)</a:t>
            </a:r>
            <a:endParaRPr b="0" sz="2100"/>
          </a:p>
          <a:p>
            <a:pPr indent="-361950" lvl="0" marL="457200" rtl="0" algn="l">
              <a:spcBef>
                <a:spcPts val="0"/>
              </a:spcBef>
              <a:spcAft>
                <a:spcPts val="0"/>
              </a:spcAft>
              <a:buSzPts val="2100"/>
              <a:buChar char="●"/>
            </a:pPr>
            <a:r>
              <a:rPr b="0" lang="en" sz="2100"/>
              <a:t>CNN → Predicted Plots | OCR → LinReg/LogReg/DecTree/RandomForest</a:t>
            </a:r>
            <a:endParaRPr b="0" sz="2100"/>
          </a:p>
        </p:txBody>
      </p:sp>
      <p:sp>
        <p:nvSpPr>
          <p:cNvPr id="87" name="Google Shape;87;p15"/>
          <p:cNvSpPr txBox="1"/>
          <p:nvPr/>
        </p:nvSpPr>
        <p:spPr>
          <a:xfrm>
            <a:off x="4715100" y="544750"/>
            <a:ext cx="4955700" cy="11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88" name="Google Shape;88;p15"/>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6"/>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What is a plat?</a:t>
            </a:r>
            <a:endParaRPr sz="2400"/>
          </a:p>
        </p:txBody>
      </p:sp>
      <p:sp>
        <p:nvSpPr>
          <p:cNvPr id="94" name="Google Shape;94;p16"/>
          <p:cNvSpPr txBox="1"/>
          <p:nvPr>
            <p:ph idx="4294967295" type="title"/>
          </p:nvPr>
        </p:nvSpPr>
        <p:spPr>
          <a:xfrm>
            <a:off x="535775" y="1480150"/>
            <a:ext cx="5197200" cy="30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0" lang="en" sz="2100"/>
              <a:t>A legal </a:t>
            </a:r>
            <a:r>
              <a:rPr b="0" lang="en" sz="2100"/>
              <a:t>document</a:t>
            </a:r>
            <a:r>
              <a:rPr b="0" lang="en" sz="2100"/>
              <a:t> of a plan, map, or chart of a piece of land with actual or proposed features (such as lots)</a:t>
            </a:r>
            <a:endParaRPr b="0" sz="3400"/>
          </a:p>
        </p:txBody>
      </p:sp>
      <p:pic>
        <p:nvPicPr>
          <p:cNvPr id="95" name="Google Shape;95;p16"/>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What is a replat?</a:t>
            </a:r>
            <a:endParaRPr sz="2400"/>
          </a:p>
        </p:txBody>
      </p:sp>
      <p:sp>
        <p:nvSpPr>
          <p:cNvPr id="101" name="Google Shape;101;p17"/>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100">
                <a:latin typeface="Raleway Medium"/>
                <a:ea typeface="Raleway Medium"/>
                <a:cs typeface="Raleway Medium"/>
                <a:sym typeface="Raleway Medium"/>
              </a:rPr>
              <a:t>A replat </a:t>
            </a:r>
            <a:r>
              <a:rPr b="0" lang="en" sz="2100">
                <a:latin typeface="Raleway Medium"/>
                <a:ea typeface="Raleway Medium"/>
                <a:cs typeface="Raleway Medium"/>
                <a:sym typeface="Raleway Medium"/>
              </a:rPr>
              <a:t>legally alters an existing subdivision plat by changing lo</a:t>
            </a:r>
            <a:r>
              <a:rPr b="0" lang="en" sz="2100">
                <a:latin typeface="Raleway Medium"/>
                <a:ea typeface="Raleway Medium"/>
                <a:cs typeface="Raleway Medium"/>
                <a:sym typeface="Raleway Medium"/>
              </a:rPr>
              <a:t>t lines, combining or dividing lots, or reconfiguring public streets and easements. This creates a new map t</a:t>
            </a:r>
            <a:r>
              <a:rPr b="0" lang="en" sz="2100">
                <a:latin typeface="Raleway Medium"/>
                <a:ea typeface="Raleway Medium"/>
                <a:cs typeface="Raleway Medium"/>
                <a:sym typeface="Raleway Medium"/>
              </a:rPr>
              <a:t>hat modifies an old one, often requiring public notice, hearings, and formal approval from local authorities.</a:t>
            </a:r>
            <a:endParaRPr b="0" sz="2100">
              <a:latin typeface="Raleway Medium"/>
              <a:ea typeface="Raleway Medium"/>
              <a:cs typeface="Raleway Medium"/>
              <a:sym typeface="Raleway Medium"/>
            </a:endParaRPr>
          </a:p>
        </p:txBody>
      </p:sp>
      <p:pic>
        <p:nvPicPr>
          <p:cNvPr id="102" name="Google Shape;102;p17"/>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What is a land survey?</a:t>
            </a:r>
            <a:endParaRPr sz="2400"/>
          </a:p>
        </p:txBody>
      </p:sp>
      <p:sp>
        <p:nvSpPr>
          <p:cNvPr id="108" name="Google Shape;108;p18"/>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100">
                <a:latin typeface="Raleway Medium"/>
                <a:ea typeface="Raleway Medium"/>
                <a:cs typeface="Raleway Medium"/>
                <a:sym typeface="Raleway Medium"/>
              </a:rPr>
              <a:t>Land surveying measures and maps physical features, boundaries, and elevations using mathematics and technology to determine precise horizontal and vertical positions on the ground. It establishes legal property lines, maps topography, locates features, and provides data for construction, legal, and engineering purposes.</a:t>
            </a:r>
            <a:endParaRPr b="0" sz="2100">
              <a:latin typeface="Raleway Medium"/>
              <a:ea typeface="Raleway Medium"/>
              <a:cs typeface="Raleway Medium"/>
              <a:sym typeface="Raleway Medium"/>
            </a:endParaRPr>
          </a:p>
        </p:txBody>
      </p:sp>
      <p:pic>
        <p:nvPicPr>
          <p:cNvPr id="109" name="Google Shape;109;p18"/>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Data Plan</a:t>
            </a:r>
            <a:endParaRPr sz="2400"/>
          </a:p>
        </p:txBody>
      </p:sp>
      <p:sp>
        <p:nvSpPr>
          <p:cNvPr id="115" name="Google Shape;115;p19"/>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2100">
                <a:latin typeface="Raleway Medium"/>
                <a:ea typeface="Raleway Medium"/>
                <a:cs typeface="Raleway Medium"/>
                <a:sym typeface="Raleway Medium"/>
              </a:rPr>
              <a:t>We will source our data from public sources for the recorded plats. Surveys will be acquired from a private source, </a:t>
            </a:r>
            <a:r>
              <a:rPr b="0" lang="en" sz="2100">
                <a:latin typeface="Raleway Medium"/>
                <a:ea typeface="Raleway Medium"/>
                <a:cs typeface="Raleway Medium"/>
                <a:sym typeface="Raleway Medium"/>
              </a:rPr>
              <a:t>with consent. </a:t>
            </a:r>
            <a:endParaRPr b="0" sz="2100">
              <a:latin typeface="Raleway Medium"/>
              <a:ea typeface="Raleway Medium"/>
              <a:cs typeface="Raleway Medium"/>
              <a:sym typeface="Raleway Medium"/>
            </a:endParaRPr>
          </a:p>
          <a:p>
            <a:pPr indent="0" lvl="0" marL="0" rtl="0" algn="l">
              <a:spcBef>
                <a:spcPts val="0"/>
              </a:spcBef>
              <a:spcAft>
                <a:spcPts val="0"/>
              </a:spcAft>
              <a:buNone/>
            </a:pPr>
            <a:r>
              <a:t/>
            </a:r>
            <a:endParaRPr b="0" sz="2100">
              <a:latin typeface="Raleway Medium"/>
              <a:ea typeface="Raleway Medium"/>
              <a:cs typeface="Raleway Medium"/>
              <a:sym typeface="Raleway Medium"/>
            </a:endParaRPr>
          </a:p>
          <a:p>
            <a:pPr indent="0" lvl="0" marL="0" rtl="0" algn="l">
              <a:spcBef>
                <a:spcPts val="0"/>
              </a:spcBef>
              <a:spcAft>
                <a:spcPts val="0"/>
              </a:spcAft>
              <a:buNone/>
            </a:pPr>
            <a:r>
              <a:rPr b="0" lang="en" sz="2100">
                <a:latin typeface="Raleway Medium"/>
                <a:ea typeface="Raleway Medium"/>
                <a:cs typeface="Raleway Medium"/>
                <a:sym typeface="Raleway Medium"/>
              </a:rPr>
              <a:t>Our sample size for training will be between 100-200 pairs of plats and surveys (PDFs). </a:t>
            </a:r>
            <a:endParaRPr b="0" sz="2100">
              <a:latin typeface="Raleway Medium"/>
              <a:ea typeface="Raleway Medium"/>
              <a:cs typeface="Raleway Medium"/>
              <a:sym typeface="Raleway Medium"/>
            </a:endParaRPr>
          </a:p>
        </p:txBody>
      </p:sp>
      <p:pic>
        <p:nvPicPr>
          <p:cNvPr id="116" name="Google Shape;116;p19"/>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idx="4294967295" type="title"/>
          </p:nvPr>
        </p:nvSpPr>
        <p:spPr>
          <a:xfrm>
            <a:off x="535775" y="712150"/>
            <a:ext cx="6301800" cy="635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Constraints &amp; Examples</a:t>
            </a:r>
            <a:endParaRPr sz="2400"/>
          </a:p>
        </p:txBody>
      </p:sp>
      <p:sp>
        <p:nvSpPr>
          <p:cNvPr id="122" name="Google Shape;122;p20"/>
          <p:cNvSpPr txBox="1"/>
          <p:nvPr>
            <p:ph idx="4294967295" type="title"/>
          </p:nvPr>
        </p:nvSpPr>
        <p:spPr>
          <a:xfrm>
            <a:off x="535775" y="1480150"/>
            <a:ext cx="5770200" cy="30366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b="0" lang="en" sz="2100"/>
              <a:t>Land comes in different shapes and sizes</a:t>
            </a:r>
            <a:endParaRPr b="0" sz="2100"/>
          </a:p>
          <a:p>
            <a:pPr indent="-361950" lvl="0" marL="457200" rtl="0" algn="l">
              <a:spcBef>
                <a:spcPts val="0"/>
              </a:spcBef>
              <a:spcAft>
                <a:spcPts val="0"/>
              </a:spcAft>
              <a:buSzPts val="2100"/>
              <a:buChar char="●"/>
            </a:pPr>
            <a:r>
              <a:rPr b="0" lang="en" sz="2100"/>
              <a:t>Math is </a:t>
            </a:r>
            <a:r>
              <a:rPr b="0" i="1" lang="en" sz="2100"/>
              <a:t>almost</a:t>
            </a:r>
            <a:r>
              <a:rPr b="0" lang="en" sz="2100"/>
              <a:t> magical</a:t>
            </a:r>
            <a:endParaRPr b="0" sz="2100"/>
          </a:p>
          <a:p>
            <a:pPr indent="-361950" lvl="0" marL="457200" rtl="0" algn="l">
              <a:spcBef>
                <a:spcPts val="0"/>
              </a:spcBef>
              <a:spcAft>
                <a:spcPts val="0"/>
              </a:spcAft>
              <a:buSzPts val="2100"/>
              <a:buChar char="●"/>
            </a:pPr>
            <a:r>
              <a:rPr b="0" lang="en" sz="2100"/>
              <a:t>Data set examples</a:t>
            </a:r>
            <a:endParaRPr b="0" sz="2100"/>
          </a:p>
          <a:p>
            <a:pPr indent="-361950" lvl="1" marL="914400" rtl="0" algn="l">
              <a:spcBef>
                <a:spcPts val="0"/>
              </a:spcBef>
              <a:spcAft>
                <a:spcPts val="0"/>
              </a:spcAft>
              <a:buSzPts val="2100"/>
              <a:buChar char="○"/>
            </a:pPr>
            <a:r>
              <a:rPr b="0" lang="en" sz="2100" u="sng">
                <a:solidFill>
                  <a:schemeClr val="hlink"/>
                </a:solidFill>
                <a:hlinkClick r:id="rId3"/>
              </a:rPr>
              <a:t>Plaza Estates at Gibson</a:t>
            </a:r>
            <a:endParaRPr b="0" sz="2100"/>
          </a:p>
          <a:p>
            <a:pPr indent="-361950" lvl="1" marL="914400" rtl="0" algn="l">
              <a:spcBef>
                <a:spcPts val="0"/>
              </a:spcBef>
              <a:spcAft>
                <a:spcPts val="0"/>
              </a:spcAft>
              <a:buSzPts val="2100"/>
              <a:buChar char="○"/>
            </a:pPr>
            <a:r>
              <a:rPr b="0" lang="en" sz="2100" u="sng">
                <a:solidFill>
                  <a:schemeClr val="hlink"/>
                </a:solidFill>
                <a:hlinkClick r:id="rId4"/>
              </a:rPr>
              <a:t>Inwood Pines Village</a:t>
            </a:r>
            <a:r>
              <a:rPr b="0" lang="en" sz="2100"/>
              <a:t> </a:t>
            </a:r>
            <a:endParaRPr b="0" sz="2100"/>
          </a:p>
        </p:txBody>
      </p:sp>
      <p:pic>
        <p:nvPicPr>
          <p:cNvPr id="123" name="Google Shape;123;p20"/>
          <p:cNvPicPr preferRelativeResize="0"/>
          <p:nvPr/>
        </p:nvPicPr>
        <p:blipFill rotWithShape="1">
          <a:blip r:embed="rId5">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1"/>
          <p:cNvSpPr txBox="1"/>
          <p:nvPr>
            <p:ph idx="4294967295" type="title"/>
          </p:nvPr>
        </p:nvSpPr>
        <p:spPr>
          <a:xfrm>
            <a:off x="496400" y="820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Technical Approach</a:t>
            </a:r>
            <a:endParaRPr sz="2400"/>
          </a:p>
        </p:txBody>
      </p:sp>
      <p:sp>
        <p:nvSpPr>
          <p:cNvPr id="129" name="Google Shape;129;p21"/>
          <p:cNvSpPr txBox="1"/>
          <p:nvPr>
            <p:ph idx="4294967295" type="title"/>
          </p:nvPr>
        </p:nvSpPr>
        <p:spPr>
          <a:xfrm>
            <a:off x="66500" y="723975"/>
            <a:ext cx="7041600" cy="3624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0" lang="en" sz="1800"/>
              <a:t>We will have a 3 model ensemble</a:t>
            </a:r>
            <a:r>
              <a:rPr b="0" lang="en" sz="1800"/>
              <a:t> </a:t>
            </a:r>
            <a:endParaRPr b="0" sz="1800"/>
          </a:p>
          <a:p>
            <a:pPr indent="-342900" lvl="1" marL="914400" rtl="0" algn="l">
              <a:spcBef>
                <a:spcPts val="0"/>
              </a:spcBef>
              <a:spcAft>
                <a:spcPts val="0"/>
              </a:spcAft>
              <a:buSzPts val="1800"/>
              <a:buChar char="○"/>
            </a:pPr>
            <a:r>
              <a:rPr b="0" lang="en" sz="1800"/>
              <a:t>Model 1: Image Classification</a:t>
            </a:r>
            <a:endParaRPr b="0" sz="1800"/>
          </a:p>
          <a:p>
            <a:pPr indent="-342900" lvl="2" marL="1371600" rtl="0" algn="l">
              <a:spcBef>
                <a:spcPts val="0"/>
              </a:spcBef>
              <a:spcAft>
                <a:spcPts val="0"/>
              </a:spcAft>
              <a:buSzPts val="1800"/>
              <a:buChar char="■"/>
            </a:pPr>
            <a:r>
              <a:rPr b="0" lang="en" sz="1800"/>
              <a:t>We will take survey images and create a model to predict number of plots based on shape</a:t>
            </a:r>
            <a:endParaRPr b="0" sz="1800"/>
          </a:p>
          <a:p>
            <a:pPr indent="-342900" lvl="1" marL="914400" rtl="0" algn="l">
              <a:spcBef>
                <a:spcPts val="0"/>
              </a:spcBef>
              <a:spcAft>
                <a:spcPts val="0"/>
              </a:spcAft>
              <a:buSzPts val="1800"/>
              <a:buChar char="○"/>
            </a:pPr>
            <a:r>
              <a:rPr b="0" lang="en" sz="1800"/>
              <a:t>Model 2: Grab data from survey images</a:t>
            </a:r>
            <a:endParaRPr b="0" sz="1800"/>
          </a:p>
          <a:p>
            <a:pPr indent="-342900" lvl="2" marL="1371600" rtl="0" algn="l">
              <a:spcBef>
                <a:spcPts val="0"/>
              </a:spcBef>
              <a:spcAft>
                <a:spcPts val="0"/>
              </a:spcAft>
              <a:buSzPts val="1800"/>
              <a:buChar char="■"/>
            </a:pPr>
            <a:r>
              <a:rPr b="0" lang="en" sz="1800"/>
              <a:t>We will grab metric data from survey then input this data into LinReg/LogReg/DecTree/RandomForest Classifier</a:t>
            </a:r>
            <a:endParaRPr b="0" sz="1800"/>
          </a:p>
          <a:p>
            <a:pPr indent="-342900" lvl="1" marL="914400" rtl="0" algn="l">
              <a:spcBef>
                <a:spcPts val="0"/>
              </a:spcBef>
              <a:spcAft>
                <a:spcPts val="0"/>
              </a:spcAft>
              <a:buSzPts val="1800"/>
              <a:buChar char="○"/>
            </a:pPr>
            <a:r>
              <a:rPr b="0" lang="en" sz="1800"/>
              <a:t>Model 3: </a:t>
            </a:r>
            <a:r>
              <a:rPr b="0" lang="en" sz="1800"/>
              <a:t>Grab data from Replat images</a:t>
            </a:r>
            <a:endParaRPr b="0" sz="1800"/>
          </a:p>
          <a:p>
            <a:pPr indent="-342900" lvl="2" marL="1371600" rtl="0" algn="l">
              <a:spcBef>
                <a:spcPts val="0"/>
              </a:spcBef>
              <a:spcAft>
                <a:spcPts val="0"/>
              </a:spcAft>
              <a:buSzPts val="1800"/>
              <a:buChar char="■"/>
            </a:pPr>
            <a:r>
              <a:rPr b="0" lang="en" sz="1800"/>
              <a:t>We will grab metric data from Replat then input this data into LinReg/LogReg/DecTree/RandomForest Classifier</a:t>
            </a:r>
            <a:endParaRPr b="0" sz="1800"/>
          </a:p>
        </p:txBody>
      </p:sp>
      <p:pic>
        <p:nvPicPr>
          <p:cNvPr id="130" name="Google Shape;130;p21"/>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idx="4294967295" type="title"/>
          </p:nvPr>
        </p:nvSpPr>
        <p:spPr>
          <a:xfrm>
            <a:off x="496400" y="82025"/>
            <a:ext cx="60078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Technical Approach Cont.</a:t>
            </a:r>
            <a:endParaRPr sz="2400"/>
          </a:p>
        </p:txBody>
      </p:sp>
      <p:sp>
        <p:nvSpPr>
          <p:cNvPr id="136" name="Google Shape;136;p22"/>
          <p:cNvSpPr txBox="1"/>
          <p:nvPr>
            <p:ph idx="4294967295" type="title"/>
          </p:nvPr>
        </p:nvSpPr>
        <p:spPr>
          <a:xfrm>
            <a:off x="66500" y="723975"/>
            <a:ext cx="7023600" cy="41337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b="0" lang="en" sz="2100"/>
              <a:t>The mean of all three classifiers will be our output. </a:t>
            </a:r>
            <a:endParaRPr b="0" sz="2100"/>
          </a:p>
          <a:p>
            <a:pPr indent="-361950" lvl="0" marL="457200" rtl="0" algn="l">
              <a:spcBef>
                <a:spcPts val="0"/>
              </a:spcBef>
              <a:spcAft>
                <a:spcPts val="0"/>
              </a:spcAft>
              <a:buSzPts val="2100"/>
              <a:buChar char="●"/>
            </a:pPr>
            <a:r>
              <a:rPr b="0" lang="en" sz="2100"/>
              <a:t>Models: TBD</a:t>
            </a:r>
            <a:endParaRPr b="0" sz="2100"/>
          </a:p>
          <a:p>
            <a:pPr indent="-361950" lvl="0" marL="457200" rtl="0" algn="l">
              <a:spcBef>
                <a:spcPts val="0"/>
              </a:spcBef>
              <a:spcAft>
                <a:spcPts val="0"/>
              </a:spcAft>
              <a:buSzPts val="2100"/>
              <a:buChar char="●"/>
            </a:pPr>
            <a:r>
              <a:rPr b="0" lang="en" sz="2100"/>
              <a:t>Frameworks: Pytorch &amp; Tensorflow</a:t>
            </a:r>
            <a:endParaRPr b="0" sz="2100"/>
          </a:p>
          <a:p>
            <a:pPr indent="-361950" lvl="0" marL="457200" rtl="0" algn="l">
              <a:spcBef>
                <a:spcPts val="0"/>
              </a:spcBef>
              <a:spcAft>
                <a:spcPts val="0"/>
              </a:spcAft>
              <a:buSzPts val="2100"/>
              <a:buChar char="●"/>
            </a:pPr>
            <a:r>
              <a:rPr b="0" lang="en" sz="2100"/>
              <a:t>Pytorch for image classification because of its ease of use</a:t>
            </a:r>
            <a:endParaRPr b="0" sz="2100"/>
          </a:p>
          <a:p>
            <a:pPr indent="-361950" lvl="0" marL="457200" rtl="0" algn="l">
              <a:spcBef>
                <a:spcPts val="0"/>
              </a:spcBef>
              <a:spcAft>
                <a:spcPts val="0"/>
              </a:spcAft>
              <a:buSzPts val="2100"/>
              <a:buChar char="●"/>
            </a:pPr>
            <a:r>
              <a:rPr b="0" lang="en" sz="2100"/>
              <a:t>Tensorflow for OCR model and Machine Learning algorithms based off of prior experience</a:t>
            </a:r>
            <a:endParaRPr b="0" sz="2100"/>
          </a:p>
        </p:txBody>
      </p:sp>
      <p:sp>
        <p:nvSpPr>
          <p:cNvPr id="137" name="Google Shape;137;p22"/>
          <p:cNvSpPr txBox="1"/>
          <p:nvPr/>
        </p:nvSpPr>
        <p:spPr>
          <a:xfrm>
            <a:off x="6056350" y="2953775"/>
            <a:ext cx="3205800" cy="16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138" name="Google Shape;138;p22"/>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idx="4294967295" type="title"/>
          </p:nvPr>
        </p:nvSpPr>
        <p:spPr>
          <a:xfrm>
            <a:off x="527900" y="30257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System Design</a:t>
            </a:r>
            <a:endParaRPr sz="2400"/>
          </a:p>
        </p:txBody>
      </p:sp>
      <p:sp>
        <p:nvSpPr>
          <p:cNvPr id="144" name="Google Shape;144;p23"/>
          <p:cNvSpPr txBox="1"/>
          <p:nvPr/>
        </p:nvSpPr>
        <p:spPr>
          <a:xfrm>
            <a:off x="527900" y="1236675"/>
            <a:ext cx="61203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Raleway"/>
                <a:ea typeface="Raleway"/>
                <a:cs typeface="Raleway"/>
                <a:sym typeface="Raleway"/>
              </a:rPr>
              <a:t>Input → Augmentation → Inference → Output</a:t>
            </a:r>
            <a:endParaRPr sz="2100">
              <a:solidFill>
                <a:schemeClr val="dk2"/>
              </a:solidFill>
              <a:latin typeface="Raleway"/>
              <a:ea typeface="Raleway"/>
              <a:cs typeface="Raleway"/>
              <a:sym typeface="Raleway"/>
            </a:endParaRPr>
          </a:p>
        </p:txBody>
      </p:sp>
      <p:sp>
        <p:nvSpPr>
          <p:cNvPr id="145" name="Google Shape;145;p23"/>
          <p:cNvSpPr txBox="1"/>
          <p:nvPr/>
        </p:nvSpPr>
        <p:spPr>
          <a:xfrm>
            <a:off x="527900" y="2268516"/>
            <a:ext cx="7944600" cy="52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Raleway"/>
                <a:ea typeface="Raleway"/>
                <a:cs typeface="Raleway"/>
                <a:sym typeface="Raleway"/>
              </a:rPr>
              <a:t>Input → OCR → Python Script → Input → ML Model → Output</a:t>
            </a:r>
            <a:endParaRPr sz="2100">
              <a:solidFill>
                <a:schemeClr val="dk2"/>
              </a:solidFill>
              <a:latin typeface="Raleway"/>
              <a:ea typeface="Raleway"/>
              <a:cs typeface="Raleway"/>
              <a:sym typeface="Raleway"/>
            </a:endParaRPr>
          </a:p>
        </p:txBody>
      </p:sp>
      <p:sp>
        <p:nvSpPr>
          <p:cNvPr id="146" name="Google Shape;146;p23"/>
          <p:cNvSpPr txBox="1"/>
          <p:nvPr/>
        </p:nvSpPr>
        <p:spPr>
          <a:xfrm>
            <a:off x="527900" y="3266500"/>
            <a:ext cx="6493800" cy="8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2"/>
                </a:solidFill>
                <a:latin typeface="Raleway"/>
                <a:ea typeface="Raleway"/>
                <a:cs typeface="Raleway"/>
                <a:sym typeface="Raleway"/>
              </a:rPr>
              <a:t>Input → OCR → Python Script → Input → ML Model → Output</a:t>
            </a:r>
            <a:endParaRPr sz="2100">
              <a:solidFill>
                <a:schemeClr val="dk2"/>
              </a:solidFill>
              <a:latin typeface="Raleway"/>
              <a:ea typeface="Raleway"/>
              <a:cs typeface="Raleway"/>
              <a:sym typeface="Raleway"/>
            </a:endParaRPr>
          </a:p>
        </p:txBody>
      </p:sp>
      <p:pic>
        <p:nvPicPr>
          <p:cNvPr id="147" name="Google Shape;147;p23"/>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idx="4294967295" type="title"/>
          </p:nvPr>
        </p:nvSpPr>
        <p:spPr>
          <a:xfrm>
            <a:off x="527900" y="30257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Success Metric</a:t>
            </a:r>
            <a:endParaRPr sz="2400"/>
          </a:p>
        </p:txBody>
      </p:sp>
      <p:sp>
        <p:nvSpPr>
          <p:cNvPr id="153" name="Google Shape;153;p24"/>
          <p:cNvSpPr txBox="1"/>
          <p:nvPr/>
        </p:nvSpPr>
        <p:spPr>
          <a:xfrm>
            <a:off x="968825" y="1299650"/>
            <a:ext cx="7002300" cy="24891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2"/>
              </a:buClr>
              <a:buSzPts val="2100"/>
              <a:buFont typeface="Raleway"/>
              <a:buChar char="●"/>
            </a:pPr>
            <a:r>
              <a:rPr lang="en" sz="2100">
                <a:solidFill>
                  <a:schemeClr val="dk2"/>
                </a:solidFill>
                <a:latin typeface="Raleway"/>
                <a:ea typeface="Raleway"/>
                <a:cs typeface="Raleway"/>
                <a:sym typeface="Raleway"/>
              </a:rPr>
              <a:t>Primary - Mean Square Error – &lt; .3</a:t>
            </a:r>
            <a:endParaRPr sz="2100">
              <a:solidFill>
                <a:schemeClr val="dk2"/>
              </a:solidFill>
              <a:latin typeface="Raleway"/>
              <a:ea typeface="Raleway"/>
              <a:cs typeface="Raleway"/>
              <a:sym typeface="Raleway"/>
            </a:endParaRPr>
          </a:p>
          <a:p>
            <a:pPr indent="-361950" lvl="0" marL="457200" rtl="0" algn="l">
              <a:spcBef>
                <a:spcPts val="0"/>
              </a:spcBef>
              <a:spcAft>
                <a:spcPts val="0"/>
              </a:spcAft>
              <a:buClr>
                <a:schemeClr val="dk2"/>
              </a:buClr>
              <a:buSzPts val="2100"/>
              <a:buFont typeface="Raleway"/>
              <a:buChar char="●"/>
            </a:pPr>
            <a:r>
              <a:rPr lang="en" sz="2100">
                <a:solidFill>
                  <a:schemeClr val="dk2"/>
                </a:solidFill>
                <a:latin typeface="Raleway"/>
                <a:ea typeface="Raleway"/>
                <a:cs typeface="Raleway"/>
                <a:sym typeface="Raleway"/>
              </a:rPr>
              <a:t>Secondary - Mean Absolute Error - &lt; .3</a:t>
            </a:r>
            <a:endParaRPr sz="2100">
              <a:solidFill>
                <a:schemeClr val="dk2"/>
              </a:solidFill>
              <a:latin typeface="Raleway"/>
              <a:ea typeface="Raleway"/>
              <a:cs typeface="Raleway"/>
              <a:sym typeface="Raleway"/>
            </a:endParaRPr>
          </a:p>
        </p:txBody>
      </p:sp>
      <p:pic>
        <p:nvPicPr>
          <p:cNvPr id="154" name="Google Shape;154;p24"/>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idx="4294967295" type="title"/>
          </p:nvPr>
        </p:nvSpPr>
        <p:spPr>
          <a:xfrm>
            <a:off x="527900" y="302575"/>
            <a:ext cx="735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Challenges &amp; Backup Plans</a:t>
            </a:r>
            <a:endParaRPr sz="3600">
              <a:solidFill>
                <a:schemeClr val="dk1"/>
              </a:solidFill>
            </a:endParaRPr>
          </a:p>
        </p:txBody>
      </p:sp>
      <p:sp>
        <p:nvSpPr>
          <p:cNvPr id="160" name="Google Shape;160;p25"/>
          <p:cNvSpPr txBox="1"/>
          <p:nvPr/>
        </p:nvSpPr>
        <p:spPr>
          <a:xfrm>
            <a:off x="746275" y="1552075"/>
            <a:ext cx="7236000" cy="29484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2"/>
              </a:buClr>
              <a:buSzPts val="2100"/>
              <a:buFont typeface="Raleway"/>
              <a:buChar char="●"/>
            </a:pPr>
            <a:r>
              <a:rPr lang="en" sz="2100">
                <a:solidFill>
                  <a:schemeClr val="dk2"/>
                </a:solidFill>
                <a:latin typeface="Raleway"/>
                <a:ea typeface="Raleway"/>
                <a:cs typeface="Raleway"/>
                <a:sym typeface="Raleway"/>
              </a:rPr>
              <a:t>Lack of Plot Shapes</a:t>
            </a:r>
            <a:endParaRPr sz="2100">
              <a:solidFill>
                <a:schemeClr val="dk2"/>
              </a:solidFill>
              <a:latin typeface="Raleway"/>
              <a:ea typeface="Raleway"/>
              <a:cs typeface="Raleway"/>
              <a:sym typeface="Raleway"/>
            </a:endParaRPr>
          </a:p>
          <a:p>
            <a:pPr indent="-361950" lvl="1" marL="914400" rtl="0" algn="l">
              <a:spcBef>
                <a:spcPts val="0"/>
              </a:spcBef>
              <a:spcAft>
                <a:spcPts val="0"/>
              </a:spcAft>
              <a:buClr>
                <a:schemeClr val="dk2"/>
              </a:buClr>
              <a:buSzPts val="2100"/>
              <a:buFont typeface="Raleway"/>
              <a:buChar char="○"/>
            </a:pPr>
            <a:r>
              <a:rPr lang="en" sz="2100">
                <a:solidFill>
                  <a:schemeClr val="dk2"/>
                </a:solidFill>
                <a:latin typeface="Raleway"/>
                <a:ea typeface="Raleway"/>
                <a:cs typeface="Raleway"/>
                <a:sym typeface="Raleway"/>
              </a:rPr>
              <a:t>Backup - </a:t>
            </a:r>
            <a:r>
              <a:rPr lang="en" sz="2100">
                <a:solidFill>
                  <a:schemeClr val="dk2"/>
                </a:solidFill>
                <a:latin typeface="Raleway"/>
                <a:ea typeface="Raleway"/>
                <a:cs typeface="Raleway"/>
                <a:sym typeface="Raleway"/>
              </a:rPr>
              <a:t>Synthetic</a:t>
            </a:r>
            <a:r>
              <a:rPr lang="en" sz="2100">
                <a:solidFill>
                  <a:schemeClr val="dk2"/>
                </a:solidFill>
                <a:latin typeface="Raleway"/>
                <a:ea typeface="Raleway"/>
                <a:cs typeface="Raleway"/>
                <a:sym typeface="Raleway"/>
              </a:rPr>
              <a:t> Data Samples using Image Augmentation</a:t>
            </a:r>
            <a:endParaRPr sz="2100">
              <a:solidFill>
                <a:schemeClr val="dk2"/>
              </a:solidFill>
              <a:latin typeface="Raleway"/>
              <a:ea typeface="Raleway"/>
              <a:cs typeface="Raleway"/>
              <a:sym typeface="Raleway"/>
            </a:endParaRPr>
          </a:p>
          <a:p>
            <a:pPr indent="0" lvl="0" marL="0" rtl="0" algn="l">
              <a:spcBef>
                <a:spcPts val="0"/>
              </a:spcBef>
              <a:spcAft>
                <a:spcPts val="0"/>
              </a:spcAft>
              <a:buNone/>
            </a:pPr>
            <a:r>
              <a:t/>
            </a:r>
            <a:endParaRPr sz="2100">
              <a:solidFill>
                <a:schemeClr val="dk2"/>
              </a:solidFill>
              <a:latin typeface="Raleway"/>
              <a:ea typeface="Raleway"/>
              <a:cs typeface="Raleway"/>
              <a:sym typeface="Raleway"/>
            </a:endParaRPr>
          </a:p>
          <a:p>
            <a:pPr indent="0" lvl="0" marL="0" rtl="0" algn="l">
              <a:spcBef>
                <a:spcPts val="0"/>
              </a:spcBef>
              <a:spcAft>
                <a:spcPts val="0"/>
              </a:spcAft>
              <a:buNone/>
            </a:pPr>
            <a:r>
              <a:t/>
            </a:r>
            <a:endParaRPr sz="2100">
              <a:solidFill>
                <a:schemeClr val="dk2"/>
              </a:solidFill>
              <a:latin typeface="Raleway"/>
              <a:ea typeface="Raleway"/>
              <a:cs typeface="Raleway"/>
              <a:sym typeface="Raleway"/>
            </a:endParaRPr>
          </a:p>
        </p:txBody>
      </p:sp>
      <p:pic>
        <p:nvPicPr>
          <p:cNvPr id="161" name="Google Shape;161;p25"/>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idx="4294967295" type="title"/>
          </p:nvPr>
        </p:nvSpPr>
        <p:spPr>
          <a:xfrm>
            <a:off x="527900" y="302575"/>
            <a:ext cx="735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Resources Needed</a:t>
            </a:r>
            <a:endParaRPr sz="3600">
              <a:solidFill>
                <a:schemeClr val="dk1"/>
              </a:solidFill>
            </a:endParaRPr>
          </a:p>
        </p:txBody>
      </p:sp>
      <p:sp>
        <p:nvSpPr>
          <p:cNvPr id="167" name="Google Shape;167;p26"/>
          <p:cNvSpPr txBox="1"/>
          <p:nvPr/>
        </p:nvSpPr>
        <p:spPr>
          <a:xfrm>
            <a:off x="746275" y="1552075"/>
            <a:ext cx="7236000" cy="2948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Compute – Colab</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Frameworks – Pytorch &amp; TensorFlow</a:t>
            </a:r>
            <a:endParaRPr sz="1800">
              <a:solidFill>
                <a:schemeClr val="dk2"/>
              </a:solidFill>
              <a:latin typeface="Lato"/>
              <a:ea typeface="Lato"/>
              <a:cs typeface="Lato"/>
              <a:sym typeface="Lato"/>
            </a:endParaRPr>
          </a:p>
          <a:p>
            <a:pPr indent="-342900" lvl="0"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Cost – 0 -10$</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p:txBody>
      </p:sp>
      <p:pic>
        <p:nvPicPr>
          <p:cNvPr id="168" name="Google Shape;168;p26"/>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Week-by-week</a:t>
            </a:r>
            <a:endParaRPr sz="2400"/>
          </a:p>
        </p:txBody>
      </p:sp>
      <p:graphicFrame>
        <p:nvGraphicFramePr>
          <p:cNvPr id="174" name="Google Shape;174;p27"/>
          <p:cNvGraphicFramePr/>
          <p:nvPr/>
        </p:nvGraphicFramePr>
        <p:xfrm>
          <a:off x="454150" y="1480075"/>
          <a:ext cx="3000000" cy="3000000"/>
        </p:xfrm>
        <a:graphic>
          <a:graphicData uri="http://schemas.openxmlformats.org/drawingml/2006/table">
            <a:tbl>
              <a:tblPr>
                <a:noFill/>
                <a:tableStyleId>{419A5D61-5867-491C-9C38-8277495F897F}</a:tableStyleId>
              </a:tblPr>
              <a:tblGrid>
                <a:gridCol w="2164475"/>
                <a:gridCol w="2164475"/>
                <a:gridCol w="2164475"/>
              </a:tblGrid>
              <a:tr h="517200">
                <a:tc>
                  <a:txBody>
                    <a:bodyPr/>
                    <a:lstStyle/>
                    <a:p>
                      <a:pPr indent="0" lvl="0" marL="0" rtl="0" algn="ctr">
                        <a:lnSpc>
                          <a:spcPct val="115000"/>
                        </a:lnSpc>
                        <a:spcBef>
                          <a:spcPts val="0"/>
                        </a:spcBef>
                        <a:spcAft>
                          <a:spcPts val="0"/>
                        </a:spcAft>
                        <a:buNone/>
                      </a:pPr>
                      <a:r>
                        <a:rPr b="1" lang="en">
                          <a:solidFill>
                            <a:srgbClr val="273540"/>
                          </a:solidFill>
                          <a:latin typeface="Raleway"/>
                          <a:ea typeface="Raleway"/>
                          <a:cs typeface="Raleway"/>
                          <a:sym typeface="Raleway"/>
                        </a:rPr>
                        <a:t>Week</a:t>
                      </a:r>
                      <a:endParaRPr b="1">
                        <a:solidFill>
                          <a:srgbClr val="273540"/>
                        </a:solidFill>
                        <a:latin typeface="Raleway"/>
                        <a:ea typeface="Raleway"/>
                        <a:cs typeface="Raleway"/>
                        <a:sym typeface="Raleway"/>
                      </a:endParaRPr>
                    </a:p>
                  </a:txBody>
                  <a:tcPr marT="91425" marB="91425" marR="91425" marL="91425"/>
                </a:tc>
                <a:tc>
                  <a:txBody>
                    <a:bodyPr/>
                    <a:lstStyle/>
                    <a:p>
                      <a:pPr indent="0" lvl="0" marL="0" rtl="0" algn="ctr">
                        <a:lnSpc>
                          <a:spcPct val="115000"/>
                        </a:lnSpc>
                        <a:spcBef>
                          <a:spcPts val="0"/>
                        </a:spcBef>
                        <a:spcAft>
                          <a:spcPts val="0"/>
                        </a:spcAft>
                        <a:buNone/>
                      </a:pPr>
                      <a:r>
                        <a:rPr b="1" lang="en">
                          <a:solidFill>
                            <a:srgbClr val="273540"/>
                          </a:solidFill>
                          <a:latin typeface="Raleway"/>
                          <a:ea typeface="Raleway"/>
                          <a:cs typeface="Raleway"/>
                          <a:sym typeface="Raleway"/>
                        </a:rPr>
                        <a:t>Task</a:t>
                      </a:r>
                      <a:endParaRPr b="1">
                        <a:solidFill>
                          <a:srgbClr val="273540"/>
                        </a:solidFill>
                        <a:latin typeface="Raleway"/>
                        <a:ea typeface="Raleway"/>
                        <a:cs typeface="Raleway"/>
                        <a:sym typeface="Raleway"/>
                      </a:endParaRPr>
                    </a:p>
                  </a:txBody>
                  <a:tcPr marT="91425" marB="91425" marR="91425" marL="91425"/>
                </a:tc>
                <a:tc>
                  <a:txBody>
                    <a:bodyPr/>
                    <a:lstStyle/>
                    <a:p>
                      <a:pPr indent="0" lvl="0" marL="0" rtl="0" algn="ctr">
                        <a:lnSpc>
                          <a:spcPct val="115000"/>
                        </a:lnSpc>
                        <a:spcBef>
                          <a:spcPts val="0"/>
                        </a:spcBef>
                        <a:spcAft>
                          <a:spcPts val="0"/>
                        </a:spcAft>
                        <a:buNone/>
                      </a:pPr>
                      <a:r>
                        <a:rPr b="1" lang="en">
                          <a:solidFill>
                            <a:srgbClr val="273540"/>
                          </a:solidFill>
                          <a:latin typeface="Raleway"/>
                          <a:ea typeface="Raleway"/>
                          <a:cs typeface="Raleway"/>
                          <a:sym typeface="Raleway"/>
                        </a:rPr>
                        <a:t>Milestone</a:t>
                      </a:r>
                      <a:endParaRPr b="1">
                        <a:solidFill>
                          <a:srgbClr val="273540"/>
                        </a:solidFill>
                        <a:latin typeface="Raleway"/>
                        <a:ea typeface="Raleway"/>
                        <a:cs typeface="Raleway"/>
                        <a:sym typeface="Raleway"/>
                      </a:endParaRPr>
                    </a:p>
                  </a:txBody>
                  <a:tcPr marT="91425" marB="91425" marR="91425" marL="91425"/>
                </a:tc>
              </a:tr>
              <a:tr h="517200">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10 (Oct 30)</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Get dataset, set up environment</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Dataset ready</a:t>
                      </a:r>
                      <a:endParaRPr>
                        <a:solidFill>
                          <a:srgbClr val="273540"/>
                        </a:solidFill>
                        <a:highlight>
                          <a:srgbClr val="FFFFFF"/>
                        </a:highlight>
                        <a:latin typeface="Raleway"/>
                        <a:ea typeface="Raleway"/>
                        <a:cs typeface="Raleway"/>
                        <a:sym typeface="Raleway"/>
                      </a:endParaRPr>
                    </a:p>
                  </a:txBody>
                  <a:tcPr marT="19050" marB="19050" marR="19050" marL="19050"/>
                </a:tc>
              </a:tr>
              <a:tr h="517200">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11 (Nov 6)</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Train or fine-tune model</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Model working</a:t>
                      </a:r>
                      <a:endParaRPr>
                        <a:solidFill>
                          <a:srgbClr val="273540"/>
                        </a:solidFill>
                        <a:highlight>
                          <a:srgbClr val="FFFFFF"/>
                        </a:highlight>
                        <a:latin typeface="Raleway"/>
                        <a:ea typeface="Raleway"/>
                        <a:cs typeface="Raleway"/>
                        <a:sym typeface="Raleway"/>
                      </a:endParaRPr>
                    </a:p>
                  </a:txBody>
                  <a:tcPr marT="19050" marB="19050" marR="19050" marL="19050"/>
                </a:tc>
              </a:tr>
              <a:tr h="517200">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12 (Nov 13)</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Test and improve</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Good accuracy</a:t>
                      </a:r>
                      <a:endParaRPr>
                        <a:solidFill>
                          <a:srgbClr val="273540"/>
                        </a:solidFill>
                        <a:highlight>
                          <a:srgbClr val="FFFFFF"/>
                        </a:highlight>
                        <a:latin typeface="Raleway"/>
                        <a:ea typeface="Raleway"/>
                        <a:cs typeface="Raleway"/>
                        <a:sym typeface="Raleway"/>
                      </a:endParaRPr>
                    </a:p>
                  </a:txBody>
                  <a:tcPr marT="19050" marB="19050" marR="19050" marL="19050"/>
                </a:tc>
              </a:tr>
              <a:tr h="517200">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13 (Nov 20)</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Create demo or video</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Demo ready</a:t>
                      </a:r>
                      <a:endParaRPr>
                        <a:solidFill>
                          <a:srgbClr val="273540"/>
                        </a:solidFill>
                        <a:highlight>
                          <a:srgbClr val="FFFFFF"/>
                        </a:highlight>
                        <a:latin typeface="Raleway"/>
                        <a:ea typeface="Raleway"/>
                        <a:cs typeface="Raleway"/>
                        <a:sym typeface="Raleway"/>
                      </a:endParaRPr>
                    </a:p>
                  </a:txBody>
                  <a:tcPr marT="19050" marB="19050" marR="19050" marL="19050"/>
                </a:tc>
              </a:tr>
              <a:tr h="517200">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14 (Nov 27)</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Final testing, documentation</a:t>
                      </a:r>
                      <a:endParaRPr>
                        <a:solidFill>
                          <a:srgbClr val="273540"/>
                        </a:solidFill>
                        <a:highlight>
                          <a:srgbClr val="FFFFFF"/>
                        </a:highlight>
                        <a:latin typeface="Raleway"/>
                        <a:ea typeface="Raleway"/>
                        <a:cs typeface="Raleway"/>
                        <a:sym typeface="Raleway"/>
                      </a:endParaRPr>
                    </a:p>
                  </a:txBody>
                  <a:tcPr marT="19050" marB="19050" marR="19050" marL="19050"/>
                </a:tc>
                <a:tc>
                  <a:txBody>
                    <a:bodyPr/>
                    <a:lstStyle/>
                    <a:p>
                      <a:pPr indent="0" lvl="0" marL="0" rtl="0" algn="l">
                        <a:spcBef>
                          <a:spcPts val="0"/>
                        </a:spcBef>
                        <a:spcAft>
                          <a:spcPts val="0"/>
                        </a:spcAft>
                        <a:buNone/>
                      </a:pPr>
                      <a:r>
                        <a:rPr lang="en">
                          <a:solidFill>
                            <a:srgbClr val="273540"/>
                          </a:solidFill>
                          <a:highlight>
                            <a:srgbClr val="FFFFFF"/>
                          </a:highlight>
                          <a:latin typeface="Raleway"/>
                          <a:ea typeface="Raleway"/>
                          <a:cs typeface="Raleway"/>
                          <a:sym typeface="Raleway"/>
                        </a:rPr>
                        <a:t>Everything done</a:t>
                      </a:r>
                      <a:endParaRPr>
                        <a:solidFill>
                          <a:srgbClr val="273540"/>
                        </a:solidFill>
                        <a:highlight>
                          <a:srgbClr val="FFFFFF"/>
                        </a:highlight>
                        <a:latin typeface="Raleway"/>
                        <a:ea typeface="Raleway"/>
                        <a:cs typeface="Raleway"/>
                        <a:sym typeface="Raleway"/>
                      </a:endParaRPr>
                    </a:p>
                  </a:txBody>
                  <a:tcPr marT="19050" marB="19050" marR="19050" marL="19050"/>
                </a:tc>
              </a:tr>
              <a:tr h="517200">
                <a:tc>
                  <a:txBody>
                    <a:bodyPr/>
                    <a:lstStyle/>
                    <a:p>
                      <a:pPr indent="0" lvl="0" marL="0" rtl="0" algn="l">
                        <a:spcBef>
                          <a:spcPts val="0"/>
                        </a:spcBef>
                        <a:spcAft>
                          <a:spcPts val="0"/>
                        </a:spcAft>
                        <a:buNone/>
                      </a:pPr>
                      <a:r>
                        <a:rPr lang="en">
                          <a:latin typeface="Raleway"/>
                          <a:ea typeface="Raleway"/>
                          <a:cs typeface="Raleway"/>
                          <a:sym typeface="Raleway"/>
                        </a:rPr>
                        <a:t>15 (Dec 4)</a:t>
                      </a:r>
                      <a:endParaRPr>
                        <a:latin typeface="Raleway"/>
                        <a:ea typeface="Raleway"/>
                        <a:cs typeface="Raleway"/>
                        <a:sym typeface="Raleway"/>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en">
                          <a:solidFill>
                            <a:schemeClr val="dk2"/>
                          </a:solidFill>
                          <a:latin typeface="Raleway"/>
                          <a:ea typeface="Raleway"/>
                          <a:cs typeface="Raleway"/>
                          <a:sym typeface="Raleway"/>
                        </a:rPr>
                        <a:t>Present project</a:t>
                      </a:r>
                      <a:endParaRPr>
                        <a:latin typeface="Raleway"/>
                        <a:ea typeface="Raleway"/>
                        <a:cs typeface="Raleway"/>
                        <a:sym typeface="Raleway"/>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en">
                          <a:solidFill>
                            <a:schemeClr val="dk2"/>
                          </a:solidFill>
                          <a:latin typeface="Raleway"/>
                          <a:ea typeface="Raleway"/>
                          <a:cs typeface="Raleway"/>
                          <a:sym typeface="Raleway"/>
                        </a:rPr>
                        <a:t>Presentation day</a:t>
                      </a:r>
                      <a:endParaRPr>
                        <a:latin typeface="Raleway"/>
                        <a:ea typeface="Raleway"/>
                        <a:cs typeface="Raleway"/>
                        <a:sym typeface="Raleway"/>
                      </a:endParaRPr>
                    </a:p>
                  </a:txBody>
                  <a:tcPr marT="91425" marB="91425" marR="91425" marL="91425"/>
                </a:tc>
              </a:tr>
            </a:tbl>
          </a:graphicData>
        </a:graphic>
      </p:graphicFrame>
      <p:pic>
        <p:nvPicPr>
          <p:cNvPr id="175" name="Google Shape;175;p27"/>
          <p:cNvPicPr preferRelativeResize="0"/>
          <p:nvPr/>
        </p:nvPicPr>
        <p:blipFill rotWithShape="1">
          <a:blip r:embed="rId3">
            <a:alphaModFix/>
          </a:blip>
          <a:srcRect b="14408" l="0" r="0" t="14401"/>
          <a:stretch/>
        </p:blipFill>
        <p:spPr>
          <a:xfrm>
            <a:off x="7021700" y="2384226"/>
            <a:ext cx="1894350" cy="2473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idx="4294967295" type="body"/>
          </p:nvPr>
        </p:nvSpPr>
        <p:spPr>
          <a:xfrm>
            <a:off x="1888200" y="1976100"/>
            <a:ext cx="5367600" cy="457800"/>
          </a:xfrm>
          <a:prstGeom prst="rect">
            <a:avLst/>
          </a:prstGeom>
        </p:spPr>
        <p:txBody>
          <a:bodyPr anchorCtr="0" anchor="t" bIns="91425" lIns="91425" spcFirstLastPara="1" rIns="91425" wrap="square" tIns="91425">
            <a:noAutofit/>
          </a:bodyPr>
          <a:lstStyle/>
          <a:p>
            <a:pPr indent="-609600" lvl="0" marL="457200" rtl="0" algn="ctr">
              <a:spcBef>
                <a:spcPts val="0"/>
              </a:spcBef>
              <a:spcAft>
                <a:spcPts val="1000"/>
              </a:spcAft>
              <a:buClr>
                <a:schemeClr val="lt1"/>
              </a:buClr>
              <a:buSzPts val="6000"/>
              <a:buFont typeface="Raleway"/>
              <a:buChar char="➔"/>
            </a:pPr>
            <a:r>
              <a:rPr b="1" lang="en" sz="6000">
                <a:solidFill>
                  <a:schemeClr val="lt1"/>
                </a:solidFill>
                <a:latin typeface="Raleway"/>
                <a:ea typeface="Raleway"/>
                <a:cs typeface="Raleway"/>
                <a:sym typeface="Raleway"/>
              </a:rPr>
              <a:t>The End</a:t>
            </a:r>
            <a:endParaRPr sz="6000">
              <a:solidFill>
                <a:schemeClr val="lt1"/>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